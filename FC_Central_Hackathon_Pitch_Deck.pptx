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~1 min]</a:t>
            </a:r>
          </a:p>
          <a:p>
            <a:r>
              <a:t>"Good morning everyone.</a:t>
            </a:r>
          </a:p>
          <a:p/>
          <a:p>
            <a:r>
              <a:t>Today we're presenting FC Central and Saathi. </a:t>
            </a:r>
          </a:p>
          <a:p/>
          <a:p>
            <a:r>
              <a:t>At its core, this project tackles a very real problem we experience every day in both tech and banking: fragmented knowledge and lost context. </a:t>
            </a:r>
          </a:p>
          <a:p/>
          <a:p>
            <a:r>
              <a:t>We built two dedicated, role-tailored workspaces on one robust AI architecture:</a:t>
            </a:r>
          </a:p>
          <a:p>
            <a:r>
              <a:t>1. For engineering: An intelligence hub with Dev Chat and interactive Knowledge Transfer courses.</a:t>
            </a:r>
          </a:p>
          <a:p>
            <a:r>
              <a:t>2. For banking staff: Saathi, an assistant that keeps customer context organized, answers customer-specific questions, and preserves relationship history.</a:t>
            </a:r>
          </a:p>
          <a:p/>
          <a:p>
            <a:r>
              <a:t>Let's look at the specific problems we set out to solve."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~1.5 min]</a:t>
            </a:r>
          </a:p>
          <a:p>
            <a:r>
              <a:t>"Here is the real problem we see daily.</a:t>
            </a:r>
          </a:p>
          <a:p/>
          <a:p>
            <a:r>
              <a:t>On the engineering side: We have dozens of microservices. If you want to know how Income Assessment evaluates a four-wheeler loan, or what parameters Jenkins needs to cut an SIT release, good luck finding it in one place. It's in senior engineers' heads. New devs take weeks just to get oriented, and seniors get constantly interrupted.</a:t>
            </a:r>
          </a:p>
          <a:p/>
          <a:p>
            <a:r>
              <a:t>On the banking frontline: Relationship managers are talking to clients every day. But customer context is fragmented. Before a client call, the RM has to remember: what did we talk about last month? What are their family goals? And if an RM leaves or hands over accounts, that context is practically lost.</a:t>
            </a:r>
          </a:p>
          <a:p/>
          <a:p>
            <a:r>
              <a:t>We realized that both problems are about accessing grounded, organized knowledge when you need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~1.5 min]</a:t>
            </a:r>
          </a:p>
          <a:p>
            <a:r>
              <a:t>"So here is our solution: two clean, purpose-built workspaces.</a:t>
            </a:r>
          </a:p>
          <a:p/>
          <a:p>
            <a:r>
              <a:t>For developers:</a:t>
            </a:r>
          </a:p>
          <a:p>
            <a:r>
              <a:t>You log in and have Dev Chat — where you can query our microservice codebases and get answers backed by real file citations, not hallucinations. And you have Knowledge Cafe, which turns runbooks into university-style self-paced courses with interactive quizzes and visual flowcharts.</a:t>
            </a:r>
          </a:p>
          <a:p/>
          <a:p>
            <a:r>
              <a:t>For banking staff:</a:t>
            </a:r>
          </a:p>
          <a:p>
            <a:r>
              <a:t>You log in and land directly in Saathi. You select a customer, and immediately see an AI summary of who they are and their portfolio. You can ask Saathi questions about them. And critically, you can add custom notes right from the UI — like 'Client wants to discuss foreign remittance next week' — and the AI immediately remembers it for all future queries.</a:t>
            </a:r>
          </a:p>
          <a:p/>
          <a:p>
            <a:r>
              <a:t>Let's now jump straight into the live product demo."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~4 min | LIVE DEMO SCREEN]</a:t>
            </a:r>
          </a:p>
          <a:p>
            <a:r>
              <a:t>"Now let's switch to the live application running on localhost.</a:t>
            </a:r>
          </a:p>
          <a:p/>
          <a:p>
            <a:r>
              <a:t>[DEMO PART 1: DEV WORKSPACE]</a:t>
            </a:r>
          </a:p>
          <a:p>
            <a:r>
              <a:t>- We log in as an engineer.</a:t>
            </a:r>
          </a:p>
          <a:p>
            <a:r>
              <a:t>- Notice Knowledge Cafe: let's open 'Jenkins Deployment Pipelines' -&gt; Lesson 8: Release Process.</a:t>
            </a:r>
          </a:p>
          <a:p>
            <a:r>
              <a:t>- Here is the complete lesson with key takeaways, source files, and a rendered interactive flowchart showing the exact SIT/QA/Sandbox gates.</a:t>
            </a:r>
          </a:p>
          <a:p>
            <a:r>
              <a:t>- Next, let's open Dev Chat: ask 'What are the main endpoints and business rules for income assessment?' Notice how it cites the exact files and parameters.</a:t>
            </a:r>
          </a:p>
          <a:p/>
          <a:p>
            <a:r>
              <a:t>[DEMO PART 2: BANKING RM &amp; SAATHI]</a:t>
            </a:r>
          </a:p>
          <a:p>
            <a:r>
              <a:t>- Now let's log in as Priya, a banking RM.</a:t>
            </a:r>
          </a:p>
          <a:p>
            <a:r>
              <a:t>- The interface cleanly switches to Saathi.</a:t>
            </a:r>
          </a:p>
          <a:p>
            <a:r>
              <a:t>- Let's select client Vikram Malhotra. Saathi immediately displays his profile: ₹4.8 Cr AUM, upcoming maturity dates, and risk profile.</a:t>
            </a:r>
          </a:p>
          <a:p>
            <a:r>
              <a:t>- Now let's test dynamic memory: Click '+ Add Context'. I'll type: 'Client plans to send daughter to UK in Sept 2026; needs remittance advisory and tax clearance.'</a:t>
            </a:r>
          </a:p>
          <a:p>
            <a:r>
              <a:t>- Click Save.</a:t>
            </a:r>
          </a:p>
          <a:p>
            <a:r>
              <a:t>- Now in Ask Saathi, let's ask: 'What should I pitch Vikram for his upcoming UK education expenses?'</a:t>
            </a:r>
          </a:p>
          <a:p>
            <a:r>
              <a:t>- Look at the streaming response powered by AWS Bedrock: it references his liquid funds and recommends LRS remittance options based on the note we just added seconds ago.</a:t>
            </a:r>
          </a:p>
          <a:p/>
          <a:p>
            <a:r>
              <a:t>Everything you just saw is live and functional right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 min]</a:t>
            </a:r>
          </a:p>
          <a:p>
            <a:r>
              <a:t>"A quick look under the hood to address the technical criteria:</a:t>
            </a:r>
          </a:p>
          <a:p/>
          <a:p>
            <a:r>
              <a:t>1. Multi-Provider Fallback: We don't rely on a single fragile API. Bedrock Sonnet 4.6 is our primary, but if AWS throttles or errors, our adapter automatically fails over to Groq or OpenAI. The user never sees a broken screen.</a:t>
            </a:r>
          </a:p>
          <a:p>
            <a:r>
              <a:t>2. Isolated Vector Storage: In Qdrant, each customer's data has dedicated collection and payload filtering. Customer A's notes cannot leak into Customer B's queries.</a:t>
            </a:r>
          </a:p>
          <a:p>
            <a:r>
              <a:t>3. Security &amp; Compliance: No client data is ever used to train models. Keys remain strictly server-side.</a:t>
            </a:r>
          </a:p>
          <a:p>
            <a:r>
              <a:t>4. Production Feasibility: The entire system is built with clean architecture and is fully Dockerized. It can be deployed into a private bank VPC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 min | CLOSING]</a:t>
            </a:r>
          </a:p>
          <a:p>
            <a:r>
              <a:t>"To wrap up:</a:t>
            </a:r>
          </a:p>
          <a:p/>
          <a:p>
            <a:r>
              <a:t>FC Central &amp; Saathi solves two genuine, high-friction problems:</a:t>
            </a:r>
          </a:p>
          <a:p>
            <a:r>
              <a:t>- In engineering: it cuts down developer onboarding time and stops senior engineers from being overwhelmed by repetitive Slack questions.</a:t>
            </a:r>
          </a:p>
          <a:p>
            <a:r>
              <a:t>- In banking: it equips Relationship Managers with instant client context, allows them to add notes on the fly, and preserves relationship memory across transitions.</a:t>
            </a:r>
          </a:p>
          <a:p/>
          <a:p>
            <a:r>
              <a:t>It is built cleanly, it runs reliably with multi-provider fallback, and you can see it working end-to-end today.</a:t>
            </a:r>
          </a:p>
          <a:p/>
          <a:p>
            <a:r>
              <a:t>Thank you, and we're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657600"/>
          </a:xfrm>
          <a:prstGeom prst="rect">
            <a:avLst/>
          </a:prstGeom>
          <a:noFill/>
        </p:spPr>
        <p:txBody>
          <a:bodyPr wrap="square">
            <a:spAutoFit/>
          </a:bodyPr>
          <a:lstStyle/>
          <a:p>
            <a:pPr>
              <a:spcAft>
                <a:spcPts val="1000"/>
              </a:spcAft>
              <a:defRPr sz="1300" b="1">
                <a:solidFill>
                  <a:srgbClr val="F97316"/>
                </a:solidFill>
              </a:defRPr>
            </a:pPr>
            <a:r>
              <a:t>HACKATHON 2026</a:t>
            </a:r>
          </a:p>
          <a:p>
            <a:pPr>
              <a:spcAft>
                <a:spcPts val="1200"/>
              </a:spcAft>
              <a:defRPr sz="4600" b="1">
                <a:solidFill>
                  <a:srgbClr val="F8FAFC"/>
                </a:solidFill>
              </a:defRPr>
            </a:pPr>
            <a:r>
              <a:t>FC Central &amp; Saathi</a:t>
            </a:r>
          </a:p>
          <a:p>
            <a:pPr>
              <a:spcAft>
                <a:spcPts val="2400"/>
              </a:spcAft>
              <a:defRPr sz="2200">
                <a:solidFill>
                  <a:srgbClr val="38BDF8"/>
                </a:solidFill>
              </a:defRPr>
            </a:pPr>
            <a:r>
              <a:t>Internal Engineering Intelligence &amp; Banking Relationship Assistant</a:t>
            </a:r>
          </a:p>
          <a:p>
            <a:pPr>
              <a:defRPr sz="1500">
                <a:solidFill>
                  <a:srgbClr val="94A3B8"/>
                </a:solidFill>
              </a:defRPr>
            </a:pPr>
            <a:r>
              <a:t>Solving fragmented knowledge and lost context across technical services and frontline banking staff.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188720"/>
          </a:xfrm>
          <a:prstGeom prst="rect">
            <a:avLst/>
          </a:prstGeom>
          <a:noFill/>
        </p:spPr>
        <p:txBody>
          <a:bodyPr wrap="square" lIns="0" tIns="0" rIns="0" bIns="0">
            <a:spAutoFit/>
          </a:bodyPr>
          <a:lstStyle/>
          <a:p>
            <a:pPr>
              <a:spcAft>
                <a:spcPts val="400"/>
              </a:spcAft>
              <a:defRPr sz="1100" b="1">
                <a:solidFill>
                  <a:srgbClr val="38BDF8"/>
                </a:solidFill>
              </a:defRPr>
            </a:pPr>
            <a:r>
              <a:t>THE PROBLEM</a:t>
            </a:r>
          </a:p>
          <a:p>
            <a:pPr>
              <a:spcAft>
                <a:spcPts val="400"/>
              </a:spcAft>
              <a:defRPr sz="2800" b="1">
                <a:solidFill>
                  <a:srgbClr val="F8FAFC"/>
                </a:solidFill>
              </a:defRPr>
            </a:pPr>
            <a:r>
              <a:t>Knowledge is Fragmented &amp; Hard to Access</a:t>
            </a:r>
          </a:p>
          <a:p>
            <a:pPr>
              <a:defRPr sz="1300">
                <a:solidFill>
                  <a:srgbClr val="94A3B8"/>
                </a:solidFill>
              </a:defRPr>
            </a:pPr>
            <a:r>
              <a:t>Two different teams struggling with the exact same bottleneck: lost context.</a:t>
            </a:r>
          </a:p>
        </p:txBody>
      </p:sp>
      <p:sp>
        <p:nvSpPr>
          <p:cNvPr id="4" name="Rounded Rectangle 3"/>
          <p:cNvSpPr/>
          <p:nvPr/>
        </p:nvSpPr>
        <p:spPr>
          <a:xfrm>
            <a:off x="731520" y="1828800"/>
            <a:ext cx="516636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F97316"/>
                </a:solidFill>
              </a:defRPr>
            </a:pPr>
            <a:r>
              <a:t>For Engineering Teams</a:t>
            </a:r>
          </a:p>
          <a:p>
            <a:pPr>
              <a:spcAft>
                <a:spcPts val="200"/>
              </a:spcAft>
              <a:defRPr b="1" sz="1300">
                <a:solidFill>
                  <a:srgbClr val="F8FAFC"/>
                </a:solidFill>
              </a:defRPr>
            </a:pPr>
            <a:r>
              <a:t>• Tribal knowledge in senior heads</a:t>
            </a:r>
          </a:p>
          <a:p>
            <a:pPr>
              <a:spcAft>
                <a:spcPts val="1000"/>
              </a:spcAft>
              <a:defRPr sz="1100">
                <a:solidFill>
                  <a:srgbClr val="94A3B8"/>
                </a:solidFill>
              </a:defRPr>
            </a:pPr>
            <a:r>
              <a:t>  Details about how microservices work (rules, deployment parameters, backward compatibility) aren't documented or are buried in old Slack chats.</a:t>
            </a:r>
          </a:p>
          <a:p>
            <a:pPr>
              <a:spcAft>
                <a:spcPts val="200"/>
              </a:spcAft>
              <a:defRPr b="1" sz="1300">
                <a:solidFill>
                  <a:srgbClr val="F8FAFC"/>
                </a:solidFill>
              </a:defRPr>
            </a:pPr>
            <a:r>
              <a:t>• Slow, frustrating onboarding</a:t>
            </a:r>
          </a:p>
          <a:p>
            <a:pPr>
              <a:spcAft>
                <a:spcPts val="1000"/>
              </a:spcAft>
              <a:defRPr sz="1100">
                <a:solidFill>
                  <a:srgbClr val="94A3B8"/>
                </a:solidFill>
              </a:defRPr>
            </a:pPr>
            <a:r>
              <a:t>  New hires spend weeks asking senior engineers basic questions just to figure out how to build and deploy a service.</a:t>
            </a:r>
          </a:p>
          <a:p>
            <a:pPr>
              <a:spcAft>
                <a:spcPts val="200"/>
              </a:spcAft>
              <a:defRPr b="1" sz="1300">
                <a:solidFill>
                  <a:srgbClr val="F8FAFC"/>
                </a:solidFill>
              </a:defRPr>
            </a:pPr>
            <a:r>
              <a:t>• Senior engineer interruption</a:t>
            </a:r>
          </a:p>
          <a:p>
            <a:pPr>
              <a:spcAft>
                <a:spcPts val="1000"/>
              </a:spcAft>
              <a:defRPr sz="1100">
                <a:solidFill>
                  <a:srgbClr val="94A3B8"/>
                </a:solidFill>
              </a:defRPr>
            </a:pPr>
            <a:r>
              <a:t>  Senior developers spend valuable sprint time answering repetitive questions instead of building core features.</a:t>
            </a:r>
          </a:p>
        </p:txBody>
      </p:sp>
      <p:sp>
        <p:nvSpPr>
          <p:cNvPr id="5" name="Rounded Rectangle 4"/>
          <p:cNvSpPr/>
          <p:nvPr/>
        </p:nvSpPr>
        <p:spPr>
          <a:xfrm>
            <a:off x="6263640" y="1828800"/>
            <a:ext cx="516636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38BDF8"/>
                </a:solidFill>
              </a:defRPr>
            </a:pPr>
            <a:r>
              <a:t>For Banking Staff &amp; RMs</a:t>
            </a:r>
          </a:p>
          <a:p>
            <a:pPr>
              <a:spcAft>
                <a:spcPts val="200"/>
              </a:spcAft>
              <a:defRPr b="1" sz="1300">
                <a:solidFill>
                  <a:srgbClr val="F8FAFC"/>
                </a:solidFill>
              </a:defRPr>
            </a:pPr>
            <a:r>
              <a:t>• Scattered customer context</a:t>
            </a:r>
          </a:p>
          <a:p>
            <a:pPr>
              <a:spcAft>
                <a:spcPts val="1000"/>
              </a:spcAft>
              <a:defRPr sz="1100">
                <a:solidFill>
                  <a:srgbClr val="94A3B8"/>
                </a:solidFill>
              </a:defRPr>
            </a:pPr>
            <a:r>
              <a:t>  A Relationship Manager manages dozens of clients. Important details like past discussions, specific preferences, and risk appetite are scattered across emails and notes.</a:t>
            </a:r>
          </a:p>
          <a:p>
            <a:pPr>
              <a:spcAft>
                <a:spcPts val="200"/>
              </a:spcAft>
              <a:defRPr b="1" sz="1300">
                <a:solidFill>
                  <a:srgbClr val="F8FAFC"/>
                </a:solidFill>
              </a:defRPr>
            </a:pPr>
            <a:r>
              <a:t>• Meeting preparation is tedious</a:t>
            </a:r>
          </a:p>
          <a:p>
            <a:pPr>
              <a:spcAft>
                <a:spcPts val="1000"/>
              </a:spcAft>
              <a:defRPr sz="1100">
                <a:solidFill>
                  <a:srgbClr val="94A3B8"/>
                </a:solidFill>
              </a:defRPr>
            </a:pPr>
            <a:r>
              <a:t>  Before calling a client, the RM has to manually piece together their portfolio and recent history.</a:t>
            </a:r>
          </a:p>
          <a:p>
            <a:pPr>
              <a:spcAft>
                <a:spcPts val="200"/>
              </a:spcAft>
              <a:defRPr b="1" sz="1300">
                <a:solidFill>
                  <a:srgbClr val="F8FAFC"/>
                </a:solidFill>
              </a:defRPr>
            </a:pPr>
            <a:r>
              <a:t>• Lost context on staff transition</a:t>
            </a:r>
          </a:p>
          <a:p>
            <a:pPr>
              <a:spcAft>
                <a:spcPts val="1000"/>
              </a:spcAft>
              <a:defRPr sz="1100">
                <a:solidFill>
                  <a:srgbClr val="94A3B8"/>
                </a:solidFill>
              </a:defRPr>
            </a:pPr>
            <a:r>
              <a:t>  When an RM changes or takes leave, the next person has no easy way to get up to speed on that customer's relationship background.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188720"/>
          </a:xfrm>
          <a:prstGeom prst="rect">
            <a:avLst/>
          </a:prstGeom>
          <a:noFill/>
        </p:spPr>
        <p:txBody>
          <a:bodyPr wrap="square" lIns="0" tIns="0" rIns="0" bIns="0">
            <a:spAutoFit/>
          </a:bodyPr>
          <a:lstStyle/>
          <a:p>
            <a:pPr>
              <a:spcAft>
                <a:spcPts val="400"/>
              </a:spcAft>
              <a:defRPr sz="1100" b="1">
                <a:solidFill>
                  <a:srgbClr val="38BDF8"/>
                </a:solidFill>
              </a:defRPr>
            </a:pPr>
            <a:r>
              <a:t>OUR SOLUTION</a:t>
            </a:r>
          </a:p>
          <a:p>
            <a:pPr>
              <a:spcAft>
                <a:spcPts val="400"/>
              </a:spcAft>
              <a:defRPr sz="2800" b="1">
                <a:solidFill>
                  <a:srgbClr val="F8FAFC"/>
                </a:solidFill>
              </a:defRPr>
            </a:pPr>
            <a:r>
              <a:t>Two Focused Workspaces, Built for How Teams Actually Work</a:t>
            </a:r>
          </a:p>
          <a:p>
            <a:pPr>
              <a:defRPr sz="1300">
                <a:solidFill>
                  <a:srgbClr val="94A3B8"/>
                </a:solidFill>
              </a:defRPr>
            </a:pPr>
            <a:r>
              <a:t>No cluttered all-in-one UI. Each role gets exactly the tools they need.</a:t>
            </a:r>
          </a:p>
        </p:txBody>
      </p:sp>
      <p:sp>
        <p:nvSpPr>
          <p:cNvPr id="4" name="Rounded Rectangle 3"/>
          <p:cNvSpPr/>
          <p:nvPr/>
        </p:nvSpPr>
        <p:spPr>
          <a:xfrm>
            <a:off x="731520" y="1828800"/>
            <a:ext cx="516636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F97316"/>
                </a:solidFill>
              </a:defRPr>
            </a:pPr>
            <a:r>
              <a:t>1. Engineering Workspace</a:t>
            </a:r>
          </a:p>
          <a:p>
            <a:pPr>
              <a:spcAft>
                <a:spcPts val="200"/>
              </a:spcAft>
              <a:defRPr b="1" sz="1300">
                <a:solidFill>
                  <a:srgbClr val="F8FAFC"/>
                </a:solidFill>
              </a:defRPr>
            </a:pPr>
            <a:r>
              <a:t>• Dev Chat (Code-Grounded)</a:t>
            </a:r>
          </a:p>
          <a:p>
            <a:pPr>
              <a:spcAft>
                <a:spcPts val="1000"/>
              </a:spcAft>
              <a:defRPr sz="1100">
                <a:solidFill>
                  <a:srgbClr val="94A3B8"/>
                </a:solidFill>
              </a:defRPr>
            </a:pPr>
            <a:r>
              <a:t>  Engineers ask technical questions about our services and get verified answers with exact file paths and source citations.</a:t>
            </a:r>
          </a:p>
          <a:p>
            <a:pPr>
              <a:spcAft>
                <a:spcPts val="200"/>
              </a:spcAft>
              <a:defRPr b="1" sz="1300">
                <a:solidFill>
                  <a:srgbClr val="F8FAFC"/>
                </a:solidFill>
              </a:defRPr>
            </a:pPr>
            <a:r>
              <a:t>• Knowledge Cafe (Guided KT)</a:t>
            </a:r>
          </a:p>
          <a:p>
            <a:pPr>
              <a:spcAft>
                <a:spcPts val="1000"/>
              </a:spcAft>
              <a:defRPr sz="1100">
                <a:solidFill>
                  <a:srgbClr val="94A3B8"/>
                </a:solidFill>
              </a:defRPr>
            </a:pPr>
            <a:r>
              <a:t>  Self-paced, structured courses (e.g. Jenkins Pipelines, Income Assessment) with clear syllabus, grounded lessons, and interactive knowledge checks.</a:t>
            </a:r>
          </a:p>
          <a:p>
            <a:pPr>
              <a:spcAft>
                <a:spcPts val="200"/>
              </a:spcAft>
              <a:defRPr b="1" sz="1300">
                <a:solidFill>
                  <a:srgbClr val="F8FAFC"/>
                </a:solidFill>
              </a:defRPr>
            </a:pPr>
            <a:r>
              <a:t>• Architecture Diagrams</a:t>
            </a:r>
          </a:p>
          <a:p>
            <a:pPr>
              <a:spcAft>
                <a:spcPts val="1000"/>
              </a:spcAft>
              <a:defRPr sz="1100">
                <a:solidFill>
                  <a:srgbClr val="94A3B8"/>
                </a:solidFill>
              </a:defRPr>
            </a:pPr>
            <a:r>
              <a:t>  Automatically renders clear flowcharts of deployment pipelines and service flows so engineers understand the big picture visually.</a:t>
            </a:r>
          </a:p>
        </p:txBody>
      </p:sp>
      <p:sp>
        <p:nvSpPr>
          <p:cNvPr id="5" name="Rounded Rectangle 4"/>
          <p:cNvSpPr/>
          <p:nvPr/>
        </p:nvSpPr>
        <p:spPr>
          <a:xfrm>
            <a:off x="6263640" y="1828800"/>
            <a:ext cx="516636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38BDF8"/>
                </a:solidFill>
              </a:defRPr>
            </a:pPr>
            <a:r>
              <a:t>2. Saathi (Banking Workspace)</a:t>
            </a:r>
          </a:p>
          <a:p>
            <a:pPr>
              <a:spcAft>
                <a:spcPts val="200"/>
              </a:spcAft>
              <a:defRPr b="1" sz="1300">
                <a:solidFill>
                  <a:srgbClr val="F8FAFC"/>
                </a:solidFill>
              </a:defRPr>
            </a:pPr>
            <a:r>
              <a:t>• Customer AI Brief</a:t>
            </a:r>
          </a:p>
          <a:p>
            <a:pPr>
              <a:spcAft>
                <a:spcPts val="800"/>
              </a:spcAft>
              <a:defRPr sz="1100">
                <a:solidFill>
                  <a:srgbClr val="94A3B8"/>
                </a:solidFill>
              </a:defRPr>
            </a:pPr>
            <a:r>
              <a:t>  Instantly generates a concise profile for any selected client — portfolio summary, liquid funds, risk category, and key priorities.</a:t>
            </a:r>
          </a:p>
          <a:p>
            <a:pPr>
              <a:spcAft>
                <a:spcPts val="200"/>
              </a:spcAft>
              <a:defRPr b="1" sz="1300">
                <a:solidFill>
                  <a:srgbClr val="F8FAFC"/>
                </a:solidFill>
              </a:defRPr>
            </a:pPr>
            <a:r>
              <a:t>• Ask Saathi (Grounded Q&amp;A)</a:t>
            </a:r>
          </a:p>
          <a:p>
            <a:pPr>
              <a:spcAft>
                <a:spcPts val="800"/>
              </a:spcAft>
              <a:defRPr sz="1100">
                <a:solidFill>
                  <a:srgbClr val="94A3B8"/>
                </a:solidFill>
              </a:defRPr>
            </a:pPr>
            <a:r>
              <a:t>  Ask specific questions about the client (e.g. 'What products match their liquidity needs?') with streaming, multi-model AI.</a:t>
            </a:r>
          </a:p>
          <a:p>
            <a:pPr>
              <a:spcAft>
                <a:spcPts val="200"/>
              </a:spcAft>
              <a:defRPr b="1" sz="1300">
                <a:solidFill>
                  <a:srgbClr val="F8FAFC"/>
                </a:solidFill>
              </a:defRPr>
            </a:pPr>
            <a:r>
              <a:t>• Add Live Context on the Fly</a:t>
            </a:r>
          </a:p>
          <a:p>
            <a:pPr>
              <a:spcAft>
                <a:spcPts val="800"/>
              </a:spcAft>
              <a:defRPr sz="1100">
                <a:solidFill>
                  <a:srgbClr val="94A3B8"/>
                </a:solidFill>
              </a:defRPr>
            </a:pPr>
            <a:r>
              <a:t>  RM can type a quick note after a call (e.g. 'Daughter going to UK in fall'). It saves to that customer's vector memory and updates future AI responses.</a:t>
            </a:r>
          </a:p>
          <a:p>
            <a:pPr>
              <a:spcAft>
                <a:spcPts val="200"/>
              </a:spcAft>
              <a:defRPr b="1" sz="1300">
                <a:solidFill>
                  <a:srgbClr val="F8FAFC"/>
                </a:solidFill>
              </a:defRPr>
            </a:pPr>
            <a:r>
              <a:t>• Banking Knowledge Cafe</a:t>
            </a:r>
          </a:p>
          <a:p>
            <a:pPr>
              <a:spcAft>
                <a:spcPts val="800"/>
              </a:spcAft>
              <a:defRPr sz="1100">
                <a:solidFill>
                  <a:srgbClr val="94A3B8"/>
                </a:solidFill>
              </a:defRPr>
            </a:pPr>
            <a:r>
              <a:t>  Curated modules on credit underwriting, NRI wealth, and KYC/AML compliance.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188720"/>
          </a:xfrm>
          <a:prstGeom prst="rect">
            <a:avLst/>
          </a:prstGeom>
          <a:noFill/>
        </p:spPr>
        <p:txBody>
          <a:bodyPr wrap="square" lIns="0" tIns="0" rIns="0" bIns="0">
            <a:spAutoFit/>
          </a:bodyPr>
          <a:lstStyle/>
          <a:p>
            <a:pPr>
              <a:spcAft>
                <a:spcPts val="400"/>
              </a:spcAft>
              <a:defRPr sz="1100" b="1">
                <a:solidFill>
                  <a:srgbClr val="38BDF8"/>
                </a:solidFill>
              </a:defRPr>
            </a:pPr>
            <a:r>
              <a:t>PRODUCT DEMONSTRATION</a:t>
            </a:r>
          </a:p>
          <a:p>
            <a:pPr>
              <a:spcAft>
                <a:spcPts val="400"/>
              </a:spcAft>
              <a:defRPr sz="2800" b="1">
                <a:solidFill>
                  <a:srgbClr val="F8FAFC"/>
                </a:solidFill>
              </a:defRPr>
            </a:pPr>
            <a:r>
              <a:t>Live Product Walkthrough</a:t>
            </a:r>
          </a:p>
          <a:p>
            <a:pPr>
              <a:defRPr sz="1300">
                <a:solidFill>
                  <a:srgbClr val="94A3B8"/>
                </a:solidFill>
              </a:defRPr>
            </a:pPr>
            <a:r>
              <a:t>A quick 4-minute demonstration of the working system on localhost.</a:t>
            </a:r>
          </a:p>
        </p:txBody>
      </p:sp>
      <p:sp>
        <p:nvSpPr>
          <p:cNvPr id="4" name="Rounded Rectangle 3"/>
          <p:cNvSpPr/>
          <p:nvPr/>
        </p:nvSpPr>
        <p:spPr>
          <a:xfrm>
            <a:off x="731520" y="1828800"/>
            <a:ext cx="338328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F97316"/>
                </a:solidFill>
              </a:defRPr>
            </a:pPr>
            <a:r>
              <a:t>1. Engineering Flow</a:t>
            </a:r>
          </a:p>
          <a:p>
            <a:pPr>
              <a:spcAft>
                <a:spcPts val="300"/>
              </a:spcAft>
              <a:defRPr sz="1150">
                <a:solidFill>
                  <a:srgbClr val="94A3B8"/>
                </a:solidFill>
              </a:defRPr>
            </a:pPr>
            <a:r>
              <a:t>Login as Engineer</a:t>
            </a:r>
          </a:p>
          <a:p>
            <a:pPr>
              <a:spcAft>
                <a:spcPts val="300"/>
              </a:spcAft>
              <a:defRPr sz="1150">
                <a:solidFill>
                  <a:srgbClr val="94A3B8"/>
                </a:solidFill>
              </a:defRPr>
            </a:pPr>
          </a:p>
          <a:p>
            <a:pPr>
              <a:spcAft>
                <a:spcPts val="300"/>
              </a:spcAft>
              <a:defRPr sz="1150">
                <a:solidFill>
                  <a:srgbClr val="F8FAFC"/>
                </a:solidFill>
              </a:defRPr>
            </a:pPr>
            <a:r>
              <a:t>• Open Knowledge Cafe $\to$ 'Jenkins Deployment Pipelines'.</a:t>
            </a:r>
          </a:p>
          <a:p>
            <a:pPr>
              <a:spcAft>
                <a:spcPts val="300"/>
              </a:spcAft>
              <a:defRPr sz="1150">
                <a:solidFill>
                  <a:srgbClr val="F8FAFC"/>
                </a:solidFill>
              </a:defRPr>
            </a:pPr>
            <a:r>
              <a:t>• View Lesson 8 (Release Process) with live rendered flowchart.</a:t>
            </a:r>
          </a:p>
          <a:p>
            <a:pPr>
              <a:spcAft>
                <a:spcPts val="300"/>
              </a:spcAft>
              <a:defRPr sz="1150">
                <a:solidFill>
                  <a:srgbClr val="F8FAFC"/>
                </a:solidFill>
              </a:defRPr>
            </a:pPr>
            <a:r>
              <a:t>• Open Dev Chat $\to$ Ask how Income Assessment works.</a:t>
            </a:r>
          </a:p>
          <a:p>
            <a:pPr>
              <a:spcAft>
                <a:spcPts val="300"/>
              </a:spcAft>
              <a:defRPr sz="1150">
                <a:solidFill>
                  <a:srgbClr val="F8FAFC"/>
                </a:solidFill>
              </a:defRPr>
            </a:pPr>
            <a:r>
              <a:t>• Verify source file links and citations.</a:t>
            </a:r>
          </a:p>
        </p:txBody>
      </p:sp>
      <p:sp>
        <p:nvSpPr>
          <p:cNvPr id="5" name="Rounded Rectangle 4"/>
          <p:cNvSpPr/>
          <p:nvPr/>
        </p:nvSpPr>
        <p:spPr>
          <a:xfrm>
            <a:off x="4389120" y="1828800"/>
            <a:ext cx="338328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38BDF8"/>
                </a:solidFill>
              </a:defRPr>
            </a:pPr>
            <a:r>
              <a:t>2. Banking Staff Flow</a:t>
            </a:r>
          </a:p>
          <a:p>
            <a:pPr>
              <a:spcAft>
                <a:spcPts val="300"/>
              </a:spcAft>
              <a:defRPr sz="1150">
                <a:solidFill>
                  <a:srgbClr val="94A3B8"/>
                </a:solidFill>
              </a:defRPr>
            </a:pPr>
            <a:r>
              <a:t>Login as Banking Staff</a:t>
            </a:r>
          </a:p>
          <a:p>
            <a:pPr>
              <a:spcAft>
                <a:spcPts val="300"/>
              </a:spcAft>
              <a:defRPr sz="1150">
                <a:solidFill>
                  <a:srgbClr val="94A3B8"/>
                </a:solidFill>
              </a:defRPr>
            </a:pPr>
          </a:p>
          <a:p>
            <a:pPr>
              <a:spcAft>
                <a:spcPts val="300"/>
              </a:spcAft>
              <a:defRPr sz="1150">
                <a:solidFill>
                  <a:srgbClr val="F8FAFC"/>
                </a:solidFill>
              </a:defRPr>
            </a:pPr>
            <a:r>
              <a:t>• UI automatically presents Saathi.</a:t>
            </a:r>
          </a:p>
          <a:p>
            <a:pPr>
              <a:spcAft>
                <a:spcPts val="300"/>
              </a:spcAft>
              <a:defRPr sz="1150">
                <a:solidFill>
                  <a:srgbClr val="F8FAFC"/>
                </a:solidFill>
              </a:defRPr>
            </a:pPr>
            <a:r>
              <a:t>• Select customer Vikram Malhotra.</a:t>
            </a:r>
          </a:p>
          <a:p>
            <a:pPr>
              <a:spcAft>
                <a:spcPts val="300"/>
              </a:spcAft>
              <a:defRPr sz="1150">
                <a:solidFill>
                  <a:srgbClr val="F8FAFC"/>
                </a:solidFill>
              </a:defRPr>
            </a:pPr>
            <a:r>
              <a:t>• See instant AI Customer Brief with portfolio &amp; liquid asset status.</a:t>
            </a:r>
          </a:p>
          <a:p>
            <a:pPr>
              <a:spcAft>
                <a:spcPts val="300"/>
              </a:spcAft>
              <a:defRPr sz="1150">
                <a:solidFill>
                  <a:srgbClr val="F8FAFC"/>
                </a:solidFill>
              </a:defRPr>
            </a:pPr>
            <a:r>
              <a:t>• Review clean, stream-ready interface.</a:t>
            </a:r>
          </a:p>
        </p:txBody>
      </p:sp>
      <p:sp>
        <p:nvSpPr>
          <p:cNvPr id="6" name="Rounded Rectangle 5"/>
          <p:cNvSpPr/>
          <p:nvPr/>
        </p:nvSpPr>
        <p:spPr>
          <a:xfrm>
            <a:off x="8046720" y="1828800"/>
            <a:ext cx="338328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34D399"/>
                </a:solidFill>
              </a:defRPr>
            </a:pPr>
            <a:r>
              <a:t>3. Dynamic Context &amp; Q&amp;A</a:t>
            </a:r>
          </a:p>
          <a:p>
            <a:pPr>
              <a:spcAft>
                <a:spcPts val="300"/>
              </a:spcAft>
              <a:defRPr sz="1150">
                <a:solidFill>
                  <a:srgbClr val="94A3B8"/>
                </a:solidFill>
              </a:defRPr>
            </a:pPr>
            <a:r>
              <a:t>Memory &amp; Ask Saathi</a:t>
            </a:r>
          </a:p>
          <a:p>
            <a:pPr>
              <a:spcAft>
                <a:spcPts val="300"/>
              </a:spcAft>
              <a:defRPr sz="1150">
                <a:solidFill>
                  <a:srgbClr val="94A3B8"/>
                </a:solidFill>
              </a:defRPr>
            </a:pPr>
          </a:p>
          <a:p>
            <a:pPr>
              <a:spcAft>
                <a:spcPts val="300"/>
              </a:spcAft>
              <a:defRPr sz="1150">
                <a:solidFill>
                  <a:srgbClr val="F8FAFC"/>
                </a:solidFill>
              </a:defRPr>
            </a:pPr>
            <a:r>
              <a:t>• Click '+ Add Context': Ingest a quick note about upcoming child education.</a:t>
            </a:r>
          </a:p>
          <a:p>
            <a:pPr>
              <a:spcAft>
                <a:spcPts val="300"/>
              </a:spcAft>
              <a:defRPr sz="1150">
                <a:solidFill>
                  <a:srgbClr val="F8FAFC"/>
                </a:solidFill>
              </a:defRPr>
            </a:pPr>
            <a:r>
              <a:t>• Query Ask Saathi: 'What products should I pitch for UK education expenses?'</a:t>
            </a:r>
          </a:p>
          <a:p>
            <a:pPr>
              <a:spcAft>
                <a:spcPts val="300"/>
              </a:spcAft>
              <a:defRPr sz="1150">
                <a:solidFill>
                  <a:srgbClr val="F8FAFC"/>
                </a:solidFill>
              </a:defRPr>
            </a:pPr>
            <a:r>
              <a:t>• Watch streamed response combine portfolio + new note in real-time.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188720"/>
          </a:xfrm>
          <a:prstGeom prst="rect">
            <a:avLst/>
          </a:prstGeom>
          <a:noFill/>
        </p:spPr>
        <p:txBody>
          <a:bodyPr wrap="square" lIns="0" tIns="0" rIns="0" bIns="0">
            <a:spAutoFit/>
          </a:bodyPr>
          <a:lstStyle/>
          <a:p>
            <a:pPr>
              <a:spcAft>
                <a:spcPts val="400"/>
              </a:spcAft>
              <a:defRPr sz="1100" b="1">
                <a:solidFill>
                  <a:srgbClr val="38BDF8"/>
                </a:solidFill>
              </a:defRPr>
            </a:pPr>
            <a:r>
              <a:t>RELIABILITY &amp; ARCHITECTURE</a:t>
            </a:r>
          </a:p>
          <a:p>
            <a:pPr>
              <a:spcAft>
                <a:spcPts val="400"/>
              </a:spcAft>
              <a:defRPr sz="2800" b="1">
                <a:solidFill>
                  <a:srgbClr val="F8FAFC"/>
                </a:solidFill>
              </a:defRPr>
            </a:pPr>
            <a:r>
              <a:t>Why This Is Production-Ready, Not a Prototype</a:t>
            </a:r>
          </a:p>
          <a:p>
            <a:pPr>
              <a:defRPr sz="1300">
                <a:solidFill>
                  <a:srgbClr val="94A3B8"/>
                </a:solidFill>
              </a:defRPr>
            </a:pPr>
            <a:r>
              <a:t>Addressing judging criteria: AI Innovation (25%), Feasibility (20%), and Security (15%).</a:t>
            </a:r>
          </a:p>
        </p:txBody>
      </p:sp>
      <p:sp>
        <p:nvSpPr>
          <p:cNvPr id="4" name="Rounded Rectangle 3"/>
          <p:cNvSpPr/>
          <p:nvPr/>
        </p:nvSpPr>
        <p:spPr>
          <a:xfrm>
            <a:off x="731520" y="1828800"/>
            <a:ext cx="5166360" cy="2057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38BDF8"/>
                </a:solidFill>
              </a:defRPr>
            </a:pPr>
            <a:r>
              <a:t>Multi-Provider LLM Fallback</a:t>
            </a:r>
          </a:p>
          <a:p>
            <a:pPr>
              <a:spcBef>
                <a:spcPts val="400"/>
              </a:spcBef>
              <a:defRPr sz="1150">
                <a:solidFill>
                  <a:srgbClr val="94A3B8"/>
                </a:solidFill>
              </a:defRPr>
            </a:pPr>
            <a:r>
              <a:t>AWS Bedrock Sonnet 4.6 is our default for top analytical reasoning. If Bedrock is throttled or times out, the system automatically falls back to Groq / OpenAI transparently so the user never gets an error.</a:t>
            </a:r>
          </a:p>
        </p:txBody>
      </p:sp>
      <p:sp>
        <p:nvSpPr>
          <p:cNvPr id="5" name="Rounded Rectangle 4"/>
          <p:cNvSpPr/>
          <p:nvPr/>
        </p:nvSpPr>
        <p:spPr>
          <a:xfrm>
            <a:off x="6263640" y="1828800"/>
            <a:ext cx="5166360" cy="2057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34D399"/>
                </a:solidFill>
              </a:defRPr>
            </a:pPr>
            <a:r>
              <a:t>Customer-Isolated Vector Storage</a:t>
            </a:r>
          </a:p>
          <a:p>
            <a:pPr>
              <a:spcBef>
                <a:spcPts val="400"/>
              </a:spcBef>
              <a:defRPr sz="1150">
                <a:solidFill>
                  <a:srgbClr val="94A3B8"/>
                </a:solidFill>
              </a:defRPr>
            </a:pPr>
            <a:r>
              <a:t>Uses Qdrant vector database with dedicated collections for Saathi customers. Notes and client history are isolated at the database level — zero risk of cross-customer data leakage.</a:t>
            </a:r>
          </a:p>
        </p:txBody>
      </p:sp>
      <p:sp>
        <p:nvSpPr>
          <p:cNvPr id="6" name="Rounded Rectangle 5"/>
          <p:cNvSpPr/>
          <p:nvPr/>
        </p:nvSpPr>
        <p:spPr>
          <a:xfrm>
            <a:off x="731520" y="4160520"/>
            <a:ext cx="5166360" cy="2057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F97316"/>
                </a:solidFill>
              </a:defRPr>
            </a:pPr>
            <a:r>
              <a:t>Data Security &amp; Compliance Readiness</a:t>
            </a:r>
          </a:p>
          <a:p>
            <a:pPr>
              <a:spcBef>
                <a:spcPts val="400"/>
              </a:spcBef>
              <a:defRPr sz="1150">
                <a:solidFill>
                  <a:srgbClr val="94A3B8"/>
                </a:solidFill>
              </a:defRPr>
            </a:pPr>
            <a:r>
              <a:t>Customer data is never used to train external models. All vector search and LLM calls run server-side with strict environment secret management and role-based access control.</a:t>
            </a:r>
          </a:p>
        </p:txBody>
      </p:sp>
      <p:sp>
        <p:nvSpPr>
          <p:cNvPr id="7" name="Rounded Rectangle 6"/>
          <p:cNvSpPr/>
          <p:nvPr/>
        </p:nvSpPr>
        <p:spPr>
          <a:xfrm>
            <a:off x="6263640" y="4160520"/>
            <a:ext cx="5166360" cy="2057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F8FAFC"/>
                </a:solidFill>
              </a:defRPr>
            </a:pPr>
            <a:r>
              <a:t>Dockerized &amp; Modular Architecture</a:t>
            </a:r>
          </a:p>
          <a:p>
            <a:pPr>
              <a:spcBef>
                <a:spcPts val="400"/>
              </a:spcBef>
              <a:defRPr sz="1150">
                <a:solidFill>
                  <a:srgbClr val="94A3B8"/>
                </a:solidFill>
              </a:defRPr>
            </a:pPr>
            <a:r>
              <a:t>Follows clean architecture principles. FastAPI backend, React frontend, Qdrant vector DB, and SQLite storage are Dockerized and run together with a single command.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188720"/>
          </a:xfrm>
          <a:prstGeom prst="rect">
            <a:avLst/>
          </a:prstGeom>
          <a:noFill/>
        </p:spPr>
        <p:txBody>
          <a:bodyPr wrap="square" lIns="0" tIns="0" rIns="0" bIns="0">
            <a:spAutoFit/>
          </a:bodyPr>
          <a:lstStyle/>
          <a:p>
            <a:pPr>
              <a:spcAft>
                <a:spcPts val="400"/>
              </a:spcAft>
              <a:defRPr sz="1100" b="1">
                <a:solidFill>
                  <a:srgbClr val="38BDF8"/>
                </a:solidFill>
              </a:defRPr>
            </a:pPr>
            <a:r>
              <a:t>SUMMARY &amp; VALUE</a:t>
            </a:r>
          </a:p>
          <a:p>
            <a:pPr>
              <a:spcAft>
                <a:spcPts val="400"/>
              </a:spcAft>
              <a:defRPr sz="2800" b="1">
                <a:solidFill>
                  <a:srgbClr val="F8FAFC"/>
                </a:solidFill>
              </a:defRPr>
            </a:pPr>
            <a:r>
              <a:t>Practical Impact Today, Greater Value Tomorrow</a:t>
            </a:r>
          </a:p>
          <a:p>
            <a:pPr>
              <a:defRPr sz="1300">
                <a:solidFill>
                  <a:srgbClr val="94A3B8"/>
                </a:solidFill>
              </a:defRPr>
            </a:pPr>
            <a:r>
              <a:t>Addressing judging criteria: Business Value (30%) and Overall Strategic Fit.</a:t>
            </a:r>
          </a:p>
        </p:txBody>
      </p:sp>
      <p:sp>
        <p:nvSpPr>
          <p:cNvPr id="4" name="Rounded Rectangle 3"/>
          <p:cNvSpPr/>
          <p:nvPr/>
        </p:nvSpPr>
        <p:spPr>
          <a:xfrm>
            <a:off x="731520" y="1828800"/>
            <a:ext cx="516636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34D399"/>
                </a:solidFill>
              </a:defRPr>
            </a:pPr>
            <a:r>
              <a:t>What It Delivers Today</a:t>
            </a:r>
          </a:p>
          <a:p>
            <a:pPr>
              <a:spcAft>
                <a:spcPts val="200"/>
              </a:spcAft>
              <a:defRPr b="1" sz="1300">
                <a:solidFill>
                  <a:srgbClr val="F8FAFC"/>
                </a:solidFill>
              </a:defRPr>
            </a:pPr>
            <a:r>
              <a:t>• Faster Developer Onboarding</a:t>
            </a:r>
          </a:p>
          <a:p>
            <a:pPr>
              <a:spcAft>
                <a:spcPts val="1200"/>
              </a:spcAft>
              <a:defRPr sz="1100">
                <a:solidFill>
                  <a:srgbClr val="94A3B8"/>
                </a:solidFill>
              </a:defRPr>
            </a:pPr>
            <a:r>
              <a:t>  New engineers learn our deployment and service architectures independently using Knowledge Cafe instead of blocking seniors on Slack.</a:t>
            </a:r>
          </a:p>
          <a:p>
            <a:pPr>
              <a:spcAft>
                <a:spcPts val="200"/>
              </a:spcAft>
              <a:defRPr b="1" sz="1300">
                <a:solidFill>
                  <a:srgbClr val="F8FAFC"/>
                </a:solidFill>
              </a:defRPr>
            </a:pPr>
            <a:r>
              <a:t>• Zero Lost Customer Context</a:t>
            </a:r>
          </a:p>
          <a:p>
            <a:pPr>
              <a:spcAft>
                <a:spcPts val="1200"/>
              </a:spcAft>
              <a:defRPr sz="1100">
                <a:solidFill>
                  <a:srgbClr val="94A3B8"/>
                </a:solidFill>
              </a:defRPr>
            </a:pPr>
            <a:r>
              <a:t>  RMs have a single place to see client summaries, ask questions, and preserve meeting notes across staff handovers.</a:t>
            </a:r>
          </a:p>
          <a:p>
            <a:pPr>
              <a:spcAft>
                <a:spcPts val="200"/>
              </a:spcAft>
              <a:defRPr b="1" sz="1300">
                <a:solidFill>
                  <a:srgbClr val="F8FAFC"/>
                </a:solidFill>
              </a:defRPr>
            </a:pPr>
            <a:r>
              <a:t>• Fast Pre-Meeting Preparation</a:t>
            </a:r>
          </a:p>
          <a:p>
            <a:pPr>
              <a:spcAft>
                <a:spcPts val="1200"/>
              </a:spcAft>
              <a:defRPr sz="1100">
                <a:solidFill>
                  <a:srgbClr val="94A3B8"/>
                </a:solidFill>
              </a:defRPr>
            </a:pPr>
            <a:r>
              <a:t>  RMs get an instant AI synthesis of portfolio and notes before every client call in seconds instead of 30 minutes of manual searching.</a:t>
            </a:r>
          </a:p>
        </p:txBody>
      </p:sp>
      <p:sp>
        <p:nvSpPr>
          <p:cNvPr id="5" name="Rounded Rectangle 4"/>
          <p:cNvSpPr/>
          <p:nvPr/>
        </p:nvSpPr>
        <p:spPr>
          <a:xfrm>
            <a:off x="6263640" y="1828800"/>
            <a:ext cx="516636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1000"/>
              </a:spcAft>
              <a:defRPr sz="1600" b="1">
                <a:solidFill>
                  <a:srgbClr val="38BDF8"/>
                </a:solidFill>
              </a:defRPr>
            </a:pPr>
            <a:r>
              <a:t>Logical Next Steps</a:t>
            </a:r>
          </a:p>
          <a:p>
            <a:pPr>
              <a:spcAft>
                <a:spcPts val="200"/>
              </a:spcAft>
              <a:defRPr b="1" sz="1300">
                <a:solidFill>
                  <a:srgbClr val="F8FAFC"/>
                </a:solidFill>
              </a:defRPr>
            </a:pPr>
            <a:r>
              <a:t>• Automated Git/Jenkins Webhooks</a:t>
            </a:r>
          </a:p>
          <a:p>
            <a:pPr>
              <a:spcAft>
                <a:spcPts val="1200"/>
              </a:spcAft>
              <a:defRPr sz="1100">
                <a:solidFill>
                  <a:srgbClr val="94A3B8"/>
                </a:solidFill>
              </a:defRPr>
            </a:pPr>
            <a:r>
              <a:t>  Auto-generate and update Knowledge Cafe lessons whenever new pipeline stages or API specs are committed to git.</a:t>
            </a:r>
          </a:p>
          <a:p>
            <a:pPr>
              <a:spcAft>
                <a:spcPts val="200"/>
              </a:spcAft>
              <a:defRPr b="1" sz="1300">
                <a:solidFill>
                  <a:srgbClr val="F8FAFC"/>
                </a:solidFill>
              </a:defRPr>
            </a:pPr>
            <a:r>
              <a:t>• Core Banking &amp; CRM Connectors</a:t>
            </a:r>
          </a:p>
          <a:p>
            <a:pPr>
              <a:spcAft>
                <a:spcPts val="1200"/>
              </a:spcAft>
              <a:defRPr sz="1100">
                <a:solidFill>
                  <a:srgbClr val="94A3B8"/>
                </a:solidFill>
              </a:defRPr>
            </a:pPr>
            <a:r>
              <a:t>  Direct read-sync with Finacle and internal CRM feeds to keep client vector profiles updated in real time.</a:t>
            </a:r>
          </a:p>
          <a:p>
            <a:pPr>
              <a:spcAft>
                <a:spcPts val="200"/>
              </a:spcAft>
              <a:defRPr b="1" sz="1300">
                <a:solidFill>
                  <a:srgbClr val="F8FAFC"/>
                </a:solidFill>
              </a:defRPr>
            </a:pPr>
            <a:r>
              <a:t>• Voice Call Summary Ingestion</a:t>
            </a:r>
          </a:p>
          <a:p>
            <a:pPr>
              <a:spcAft>
                <a:spcPts val="1200"/>
              </a:spcAft>
              <a:defRPr sz="1100">
                <a:solidFill>
                  <a:srgbClr val="94A3B8"/>
                </a:solidFill>
              </a:defRPr>
            </a:pPr>
            <a:r>
              <a:t>  Allow RMs to dictate notes or record voice memos after client meetings for automatic vector storage.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